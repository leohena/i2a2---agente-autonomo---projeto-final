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0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1.svg" ContentType="image/svg+xml"/>
  <Override PartName="/ppt/media/image33.svg" ContentType="image/svg+xml"/>
  <Override PartName="/ppt/media/image4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66" r:id="rId6"/>
    <p:sldId id="259" r:id="rId7"/>
    <p:sldId id="260" r:id="rId8"/>
    <p:sldId id="264" r:id="rId9"/>
    <p:sldId id="272" r:id="rId10"/>
    <p:sldId id="270" r:id="rId11"/>
    <p:sldId id="271" r:id="rId12"/>
    <p:sldId id="265" r:id="rId13"/>
  </p:sldIdLst>
  <p:sldSz cx="18288000" cy="10287000"/>
  <p:notesSz cx="6858000" cy="9144000"/>
  <p:embeddedFontLs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70" d="100"/>
          <a:sy n="70" d="100"/>
        </p:scale>
        <p:origin x="77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22508" y="2936219"/>
            <a:ext cx="11873584" cy="7858154"/>
          </a:xfrm>
          <a:custGeom>
            <a:avLst/>
            <a:gdLst/>
            <a:ahLst/>
            <a:cxnLst/>
            <a:rect l="l" t="t" r="r" b="b"/>
            <a:pathLst>
              <a:path w="11873584" h="785815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9654" y="-734700"/>
            <a:ext cx="1660777" cy="1469400"/>
            <a:chOff x="0" y="0"/>
            <a:chExt cx="437406" cy="3870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414973" y="-734700"/>
            <a:ext cx="489701" cy="1469400"/>
            <a:chOff x="0" y="0"/>
            <a:chExt cx="128975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16729350" y="734700"/>
            <a:ext cx="1059900" cy="1059900"/>
          </a:xfrm>
          <a:custGeom>
            <a:avLst/>
            <a:gdLst/>
            <a:ahLst/>
            <a:cxnLst/>
            <a:rect l="l" t="t" r="r" b="b"/>
            <a:pathLst>
              <a:path w="1059900" h="1059900">
                <a:moveTo>
                  <a:pt x="0" y="0"/>
                </a:moveTo>
                <a:lnTo>
                  <a:pt x="1059900" y="0"/>
                </a:lnTo>
                <a:lnTo>
                  <a:pt x="1059900" y="1059900"/>
                </a:lnTo>
                <a:lnTo>
                  <a:pt x="0" y="105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857118" y="4061908"/>
            <a:ext cx="6852802" cy="1386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55"/>
              </a:lnSpc>
            </a:pPr>
            <a:r>
              <a:rPr lang="en-US" sz="9060" b="1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AI</a:t>
            </a:r>
            <a:endParaRPr lang="en-US" sz="9060" b="1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00423" y="3749351"/>
            <a:ext cx="6905153" cy="1923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65"/>
              </a:lnSpc>
            </a:pPr>
            <a:r>
              <a:rPr lang="en-US" sz="13965" b="1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CONT</a:t>
            </a:r>
            <a:endParaRPr lang="en-US" sz="13965" b="1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69654" y="2635456"/>
            <a:ext cx="5309907" cy="608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4455" b="1">
                <a:solidFill>
                  <a:srgbClr val="0CC0DF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APRESENTANDO o</a:t>
            </a:r>
            <a:endParaRPr lang="en-US" sz="4455" b="1">
              <a:solidFill>
                <a:srgbClr val="0CC0DF"/>
              </a:solidFill>
              <a:latin typeface="Proxima Nova Bold" panose="02000506030000020004"/>
              <a:ea typeface="Proxima Nova Bold" panose="02000506030000020004"/>
              <a:cs typeface="Proxima Nova Bold" panose="02000506030000020004"/>
              <a:sym typeface="Proxima Nova Bold" panose="0200050603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69654" y="6025500"/>
            <a:ext cx="1204026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3365" dirty="0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“</a:t>
            </a:r>
            <a:r>
              <a:rPr lang="en-US" sz="3365" dirty="0" err="1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Simplificando</a:t>
            </a:r>
            <a:r>
              <a:rPr lang="en-US" sz="3365" dirty="0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3365" dirty="0" err="1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sua</a:t>
            </a:r>
            <a:r>
              <a:rPr lang="en-US" sz="3365" dirty="0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3365" dirty="0" err="1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contabilidade</a:t>
            </a:r>
            <a:r>
              <a:rPr lang="en-US" sz="3365" dirty="0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, </a:t>
            </a:r>
            <a:r>
              <a:rPr lang="en-US" sz="3365" dirty="0" err="1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automatizando</a:t>
            </a:r>
            <a:r>
              <a:rPr lang="en-US" sz="3365" dirty="0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3365" dirty="0" err="1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seu</a:t>
            </a:r>
            <a:r>
              <a:rPr lang="en-US" sz="3365" dirty="0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3365" dirty="0" err="1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sucesso</a:t>
            </a:r>
            <a:r>
              <a:rPr lang="en-US" sz="3365" dirty="0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”.</a:t>
            </a:r>
            <a:endParaRPr lang="en-US" sz="3365" dirty="0">
              <a:solidFill>
                <a:srgbClr val="0CC0DF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7927" y="3266"/>
            <a:ext cx="3219899" cy="3134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95430">
            <a:off x="1670577" y="-30289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488735" y="802781"/>
            <a:ext cx="8914057" cy="10028315"/>
            <a:chOff x="0" y="0"/>
            <a:chExt cx="5370413" cy="6041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0" y="6041715"/>
                  </a:moveTo>
                  <a:lnTo>
                    <a:pt x="0" y="0"/>
                  </a:lnTo>
                  <a:cubicBezTo>
                    <a:pt x="1790138" y="2013905"/>
                    <a:pt x="3580275" y="4027810"/>
                    <a:pt x="5370413" y="6041715"/>
                  </a:cubicBezTo>
                  <a:lnTo>
                    <a:pt x="0" y="6041715"/>
                  </a:lnTo>
                  <a:close/>
                </a:path>
              </a:pathLst>
            </a:custGeom>
            <a:solidFill>
              <a:srgbClr val="F9D549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0" y="6041715"/>
                  </a:moveTo>
                  <a:lnTo>
                    <a:pt x="0" y="0"/>
                  </a:lnTo>
                  <a:cubicBezTo>
                    <a:pt x="1790138" y="2013905"/>
                    <a:pt x="3580275" y="4027810"/>
                    <a:pt x="5370413" y="6041715"/>
                  </a:cubicBezTo>
                  <a:lnTo>
                    <a:pt x="0" y="6041715"/>
                  </a:lnTo>
                  <a:close/>
                </a:path>
              </a:pathLst>
            </a:custGeom>
            <a:blipFill>
              <a:blip r:embed="rId3"/>
              <a:stretch>
                <a:fillRect t="-20284" r="-5559" b="-2028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691935" y="2444225"/>
            <a:ext cx="6157536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30"/>
              </a:lnSpc>
            </a:pPr>
            <a:r>
              <a:rPr lang="en-US" sz="6500" b="1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Visão</a:t>
            </a:r>
            <a:r>
              <a:rPr lang="en-US" sz="6500" b="1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Geral</a:t>
            </a:r>
            <a:endParaRPr lang="en-US" sz="6500" b="1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49543" y="4772550"/>
            <a:ext cx="7444358" cy="261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Automação de Processos Contábeis e Fiscais</a:t>
            </a:r>
            <a:endParaRPr lang="en-US" sz="250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 ContAI oferece uma plataforma digital que automatiza, integra e simplifica as rotinas fiscais e contábeis, especialmente para empreendedores do Simples Nacional.</a:t>
            </a:r>
            <a:endParaRPr lang="en-US" sz="250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algn="r">
              <a:lnSpc>
                <a:spcPts val="3500"/>
              </a:lnSpc>
            </a:pPr>
            <a:endParaRPr lang="en-US" sz="250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5295866" y="-734700"/>
            <a:ext cx="1660777" cy="1469400"/>
            <a:chOff x="0" y="0"/>
            <a:chExt cx="437406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299271" y="9621587"/>
            <a:ext cx="1660777" cy="1469400"/>
            <a:chOff x="0" y="0"/>
            <a:chExt cx="437406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41184" y="-734700"/>
            <a:ext cx="489701" cy="1469400"/>
            <a:chOff x="0" y="0"/>
            <a:chExt cx="128975" cy="3870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4589" y="9621587"/>
            <a:ext cx="489701" cy="1469400"/>
            <a:chOff x="0" y="0"/>
            <a:chExt cx="128975" cy="3870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2077" y="662561"/>
            <a:ext cx="1660777" cy="1469400"/>
            <a:chOff x="0" y="0"/>
            <a:chExt cx="437406" cy="38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99271" y="9621587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3241" y="662561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044589" y="9621587"/>
            <a:ext cx="489701" cy="1469400"/>
            <a:chOff x="0" y="0"/>
            <a:chExt cx="128975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8720745" y="349607"/>
            <a:ext cx="9271980" cy="9271980"/>
          </a:xfrm>
          <a:custGeom>
            <a:avLst/>
            <a:gdLst/>
            <a:ahLst/>
            <a:cxnLst/>
            <a:rect l="l" t="t" r="r" b="b"/>
            <a:pathLst>
              <a:path w="9271980" h="9271980">
                <a:moveTo>
                  <a:pt x="0" y="0"/>
                </a:moveTo>
                <a:lnTo>
                  <a:pt x="9271980" y="0"/>
                </a:lnTo>
                <a:lnTo>
                  <a:pt x="9271980" y="9271980"/>
                </a:lnTo>
                <a:lnTo>
                  <a:pt x="0" y="92719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733550" y="2131961"/>
            <a:ext cx="5246370" cy="524637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2246421" y="1306848"/>
            <a:ext cx="6750742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O </a:t>
            </a:r>
            <a:r>
              <a:rPr lang="en-US" sz="65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Problema</a:t>
            </a:r>
            <a:endParaRPr lang="en-US" sz="6500" b="1" u="none" strike="noStrike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43074" y="2387220"/>
            <a:ext cx="7785909" cy="434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0550" lvl="1" indent="-295275" algn="just">
              <a:lnSpc>
                <a:spcPts val="38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735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Complexidade</a:t>
            </a: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</a:t>
            </a:r>
            <a:r>
              <a:rPr lang="en-US" sz="2735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risco</a:t>
            </a: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no </a:t>
            </a:r>
            <a:r>
              <a:rPr lang="en-US" sz="2735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cumprimento</a:t>
            </a: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das </a:t>
            </a:r>
            <a:r>
              <a:rPr lang="en-US" sz="2735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obrigações</a:t>
            </a: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735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fiscais</a:t>
            </a: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</a:t>
            </a:r>
            <a:r>
              <a:rPr lang="en-US" sz="2735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contábeis</a:t>
            </a: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.</a:t>
            </a:r>
            <a:endParaRPr lang="en-US" sz="2735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90550" lvl="1" indent="-295275" algn="just">
              <a:lnSpc>
                <a:spcPts val="38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735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Falta de tempo para </a:t>
            </a:r>
            <a:r>
              <a:rPr lang="en-US" sz="2735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gerir</a:t>
            </a:r>
            <a:r>
              <a:rPr lang="en-US" sz="2735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735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processos</a:t>
            </a:r>
            <a:r>
              <a:rPr lang="en-US" sz="2735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735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manuais</a:t>
            </a:r>
            <a:r>
              <a:rPr lang="en-US" sz="2735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.</a:t>
            </a:r>
            <a:endParaRPr lang="en-US" sz="2735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90550" lvl="1" indent="-295275" algn="just">
              <a:lnSpc>
                <a:spcPts val="38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Falta de </a:t>
            </a:r>
            <a:r>
              <a:rPr lang="en-US" sz="2735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integração</a:t>
            </a: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entre </a:t>
            </a:r>
            <a:r>
              <a:rPr lang="en-US" sz="2735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sistemas</a:t>
            </a:r>
            <a:r>
              <a:rPr lang="en-US" sz="2735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dados.</a:t>
            </a:r>
            <a:endParaRPr lang="en-US" sz="2735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90550" lvl="1" indent="-295275" algn="just">
              <a:lnSpc>
                <a:spcPts val="38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Risco de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multas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decorrentes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de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erros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nos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cálculos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ou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atrasos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 no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recolhimento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de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guias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,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pagamentos</a:t>
            </a:r>
            <a:r>
              <a:rPr lang="en-US" sz="2735" b="1" u="none" strike="noStrike" dirty="0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e </a:t>
            </a:r>
            <a:r>
              <a:rPr lang="en-US" sz="2735" b="1" u="none" strike="noStrike" dirty="0" err="1">
                <a:solidFill>
                  <a:srgbClr val="006DAC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declarações</a:t>
            </a:r>
            <a:endParaRPr lang="en-US" sz="2735" b="1" u="none" strike="noStrike" dirty="0">
              <a:solidFill>
                <a:srgbClr val="006DAC"/>
              </a:solidFill>
              <a:latin typeface="Proxima Nova Bold" panose="02000506030000020004"/>
              <a:ea typeface="Proxima Nova Bold" panose="02000506030000020004"/>
              <a:cs typeface="Proxima Nova Bold" panose="02000506030000020004"/>
              <a:sym typeface="Proxima Nova Bold" panose="02000506030000020004"/>
            </a:endParaRPr>
          </a:p>
          <a:p>
            <a:pPr algn="just">
              <a:lnSpc>
                <a:spcPts val="3825"/>
              </a:lnSpc>
              <a:spcBef>
                <a:spcPct val="0"/>
              </a:spcBef>
            </a:pPr>
            <a:endParaRPr lang="en-US" sz="2735" b="1" u="none" strike="noStrike" dirty="0">
              <a:solidFill>
                <a:srgbClr val="006DAC"/>
              </a:solidFill>
              <a:latin typeface="Proxima Nova Bold" panose="02000506030000020004"/>
              <a:ea typeface="Proxima Nova Bold" panose="02000506030000020004"/>
              <a:cs typeface="Proxima Nova Bold" panose="02000506030000020004"/>
              <a:sym typeface="Proxima Nova Bold" panose="02000506030000020004"/>
            </a:endParaRPr>
          </a:p>
          <a:p>
            <a:pPr marL="0" lvl="0" indent="0" algn="just">
              <a:lnSpc>
                <a:spcPts val="3825"/>
              </a:lnSpc>
              <a:spcBef>
                <a:spcPct val="0"/>
              </a:spcBef>
            </a:pPr>
            <a:endParaRPr lang="en-US" sz="2735" b="1" u="none" strike="noStrike" dirty="0">
              <a:solidFill>
                <a:srgbClr val="006DAC"/>
              </a:solidFill>
              <a:latin typeface="Proxima Nova Bold" panose="02000506030000020004"/>
              <a:ea typeface="Proxima Nova Bold" panose="02000506030000020004"/>
              <a:cs typeface="Proxima Nova Bold" panose="02000506030000020004"/>
              <a:sym typeface="Proxima Nova Bold" panose="02000506030000020004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944495" y="5989432"/>
            <a:ext cx="16529742" cy="184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“60% dos pe	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quenos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negócios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perdem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tempo e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dinheiro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</a:t>
            </a:r>
            <a:endParaRPr lang="en-US" sz="2400" b="1" u="none" strike="noStrike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com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processos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fiscais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manuais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e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erros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em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</a:t>
            </a:r>
            <a:r>
              <a:rPr lang="en-US" sz="24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obrigações</a:t>
            </a:r>
            <a:r>
              <a:rPr lang="en-US" sz="24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.”</a:t>
            </a:r>
            <a:endParaRPr lang="en-US" sz="2400" b="1" u="none" strike="noStrike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2077" y="662561"/>
            <a:ext cx="1660777" cy="1469400"/>
            <a:chOff x="0" y="0"/>
            <a:chExt cx="437406" cy="38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99271" y="9621587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3241" y="662561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044589" y="9621587"/>
            <a:ext cx="489701" cy="1469400"/>
            <a:chOff x="0" y="0"/>
            <a:chExt cx="128975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5382833" y="24148"/>
            <a:ext cx="2882183" cy="3657600"/>
          </a:xfrm>
          <a:custGeom>
            <a:avLst/>
            <a:gdLst/>
            <a:ahLst/>
            <a:cxnLst/>
            <a:rect l="l" t="t" r="r" b="b"/>
            <a:pathLst>
              <a:path w="9271980" h="9271980">
                <a:moveTo>
                  <a:pt x="0" y="0"/>
                </a:moveTo>
                <a:lnTo>
                  <a:pt x="9271980" y="0"/>
                </a:lnTo>
                <a:lnTo>
                  <a:pt x="9271980" y="9271980"/>
                </a:lnTo>
                <a:lnTo>
                  <a:pt x="0" y="92719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20" name="Imagem 19" descr="Gráfico de respostas do Formulários Google. Título da pergunta: Sugestões de dores comuns para você ter em mente, caso o empreendedor não se lembre:. Número de respostas: 5 respostas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6" y="2131962"/>
            <a:ext cx="16392524" cy="782472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17"/>
          <p:cNvSpPr txBox="1"/>
          <p:nvPr/>
        </p:nvSpPr>
        <p:spPr>
          <a:xfrm>
            <a:off x="2775777" y="833994"/>
            <a:ext cx="10859979" cy="94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Gráfico</a:t>
            </a:r>
            <a:r>
              <a:rPr lang="en-US" sz="65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de </a:t>
            </a:r>
            <a:r>
              <a:rPr lang="en-US" sz="65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Principais</a:t>
            </a:r>
            <a:r>
              <a:rPr lang="en-US" sz="65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</a:t>
            </a:r>
            <a:r>
              <a:rPr lang="en-US" sz="65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Dores</a:t>
            </a:r>
            <a:endParaRPr lang="en-US" sz="6500" b="1" u="none" strike="noStrike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72625" y="1946916"/>
            <a:ext cx="11760614" cy="1710635"/>
          </a:xfrm>
          <a:custGeom>
            <a:avLst/>
            <a:gdLst/>
            <a:ahLst/>
            <a:cxnLst/>
            <a:rect l="l" t="t" r="r" b="b"/>
            <a:pathLst>
              <a:path w="11760614" h="1710635">
                <a:moveTo>
                  <a:pt x="0" y="0"/>
                </a:moveTo>
                <a:lnTo>
                  <a:pt x="11760614" y="0"/>
                </a:lnTo>
                <a:lnTo>
                  <a:pt x="11760614" y="1710635"/>
                </a:lnTo>
                <a:lnTo>
                  <a:pt x="0" y="171063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731635" y="4206727"/>
            <a:ext cx="6662738" cy="0"/>
          </a:xfrm>
          <a:prstGeom prst="line">
            <a:avLst/>
          </a:prstGeom>
          <a:ln w="38100" cap="flat">
            <a:solidFill>
              <a:srgbClr val="006DA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1206319" y="-440700"/>
            <a:ext cx="1660777" cy="1469400"/>
            <a:chOff x="0" y="0"/>
            <a:chExt cx="437406" cy="3870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52501" y="9621587"/>
            <a:ext cx="1660777" cy="1469400"/>
            <a:chOff x="0" y="0"/>
            <a:chExt cx="437406" cy="3870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8999" y="-440700"/>
            <a:ext cx="489701" cy="1469400"/>
            <a:chOff x="0" y="0"/>
            <a:chExt cx="128975" cy="3870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97819" y="9621587"/>
            <a:ext cx="489701" cy="1469400"/>
            <a:chOff x="0" y="0"/>
            <a:chExt cx="128975" cy="3870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992586" y="1867040"/>
            <a:ext cx="1591033" cy="1644479"/>
          </a:xfrm>
          <a:custGeom>
            <a:avLst/>
            <a:gdLst/>
            <a:ahLst/>
            <a:cxnLst/>
            <a:rect l="l" t="t" r="r" b="b"/>
            <a:pathLst>
              <a:path w="1591033" h="1644479">
                <a:moveTo>
                  <a:pt x="0" y="0"/>
                </a:moveTo>
                <a:lnTo>
                  <a:pt x="1591033" y="0"/>
                </a:lnTo>
                <a:lnTo>
                  <a:pt x="1591033" y="1644478"/>
                </a:lnTo>
                <a:lnTo>
                  <a:pt x="0" y="1644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252501" y="4501176"/>
            <a:ext cx="8014708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Público-Alvo</a:t>
            </a:r>
            <a:endParaRPr lang="en-US" sz="6500" b="1" u="none" strike="noStrike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23289" y="4441646"/>
            <a:ext cx="5722760" cy="43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965" b="1" spc="20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Região</a:t>
            </a:r>
            <a:r>
              <a:rPr lang="en-US" sz="2965" b="1" spc="20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 de </a:t>
            </a:r>
            <a:r>
              <a:rPr lang="en-US" sz="2965" b="1" spc="20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Concentração</a:t>
            </a:r>
            <a:r>
              <a:rPr lang="en-US" sz="2965" b="1" spc="20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:</a:t>
            </a:r>
            <a:endParaRPr lang="en-US" sz="2965" b="1" spc="20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23289" y="4969274"/>
            <a:ext cx="4291852" cy="45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965" b="1" dirty="0">
                <a:solidFill>
                  <a:srgbClr val="0CC0DF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 </a:t>
            </a:r>
            <a:r>
              <a:rPr lang="en-US" sz="2965" b="1" dirty="0" err="1">
                <a:solidFill>
                  <a:srgbClr val="0CC0DF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Sudeste</a:t>
            </a:r>
            <a:r>
              <a:rPr lang="en-US" sz="2965" b="1" dirty="0">
                <a:solidFill>
                  <a:srgbClr val="0CC0DF"/>
                </a:solidFill>
                <a:latin typeface="Proxima Nova Bold" panose="02000506030000020004"/>
                <a:ea typeface="Proxima Nova Bold" panose="02000506030000020004"/>
                <a:cs typeface="Proxima Nova Bold" panose="02000506030000020004"/>
                <a:sym typeface="Proxima Nova Bold" panose="02000506030000020004"/>
              </a:rPr>
              <a:t>, Nordeste e Sul</a:t>
            </a:r>
            <a:endParaRPr lang="en-US" sz="2965" b="1" dirty="0">
              <a:solidFill>
                <a:srgbClr val="0CC0DF"/>
              </a:solidFill>
              <a:latin typeface="Proxima Nova Bold" panose="02000506030000020004"/>
              <a:ea typeface="Proxima Nova Bold" panose="02000506030000020004"/>
              <a:cs typeface="Proxima Nova Bold" panose="02000506030000020004"/>
              <a:sym typeface="Proxima Nova Bold" panose="020005060300000200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081592" y="1857515"/>
            <a:ext cx="3464457" cy="187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125" b="1" spc="-398" dirty="0">
                <a:solidFill>
                  <a:srgbClr val="0CC0DF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18,2 MILHÕES</a:t>
            </a:r>
            <a:endParaRPr lang="en-US" sz="6125" b="1" spc="-398" dirty="0">
              <a:solidFill>
                <a:srgbClr val="0CC0DF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252501" y="5853573"/>
            <a:ext cx="8491482" cy="310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Empreendedores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pequenas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empresas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enquadradas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no Simples Nacional,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como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: </a:t>
            </a:r>
            <a:endParaRPr lang="en-US" sz="2500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Mi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croempreendedor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Individual (MEI).</a:t>
            </a:r>
            <a:endParaRPr lang="en-US" sz="25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Pequenas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empresas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de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comércio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,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serviços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indústrias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; </a:t>
            </a:r>
            <a:endParaRPr lang="en-US" sz="25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Startups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em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fase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inicial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.</a:t>
            </a:r>
            <a:endParaRPr lang="en-US" sz="25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Profissionais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liberais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,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autônomos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freelancers do Simples Nacional.</a:t>
            </a:r>
            <a:endParaRPr lang="en-US" sz="25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102521" y="3652283"/>
            <a:ext cx="4291852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00">
                <a:solidFill>
                  <a:srgbClr val="0CC0DF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Fonte: ContFisco, 2025</a:t>
            </a:r>
            <a:endParaRPr lang="en-US" sz="1500">
              <a:solidFill>
                <a:srgbClr val="0CC0DF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84704" y="7764471"/>
            <a:ext cx="10857885" cy="5181559"/>
          </a:xfrm>
          <a:custGeom>
            <a:avLst/>
            <a:gdLst/>
            <a:ahLst/>
            <a:cxnLst/>
            <a:rect l="l" t="t" r="r" b="b"/>
            <a:pathLst>
              <a:path w="10857885" h="5181559">
                <a:moveTo>
                  <a:pt x="0" y="0"/>
                </a:moveTo>
                <a:lnTo>
                  <a:pt x="10857885" y="0"/>
                </a:lnTo>
                <a:lnTo>
                  <a:pt x="10857885" y="5181559"/>
                </a:lnTo>
                <a:lnTo>
                  <a:pt x="0" y="51815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38301" y="2865429"/>
            <a:ext cx="1224584" cy="1325829"/>
          </a:xfrm>
          <a:custGeom>
            <a:avLst/>
            <a:gdLst/>
            <a:ahLst/>
            <a:cxnLst/>
            <a:rect l="l" t="t" r="r" b="b"/>
            <a:pathLst>
              <a:path w="1224584" h="1325829">
                <a:moveTo>
                  <a:pt x="0" y="0"/>
                </a:moveTo>
                <a:lnTo>
                  <a:pt x="1224584" y="0"/>
                </a:lnTo>
                <a:lnTo>
                  <a:pt x="1224584" y="1325830"/>
                </a:lnTo>
                <a:lnTo>
                  <a:pt x="0" y="132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46484" y="4472798"/>
            <a:ext cx="1408217" cy="1390295"/>
          </a:xfrm>
          <a:custGeom>
            <a:avLst/>
            <a:gdLst/>
            <a:ahLst/>
            <a:cxnLst/>
            <a:rect l="l" t="t" r="r" b="b"/>
            <a:pathLst>
              <a:path w="1408217" h="1390295">
                <a:moveTo>
                  <a:pt x="0" y="0"/>
                </a:moveTo>
                <a:lnTo>
                  <a:pt x="1408218" y="0"/>
                </a:lnTo>
                <a:lnTo>
                  <a:pt x="1408218" y="1390295"/>
                </a:lnTo>
                <a:lnTo>
                  <a:pt x="0" y="13902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167604" y="6052127"/>
            <a:ext cx="1387098" cy="1369444"/>
          </a:xfrm>
          <a:custGeom>
            <a:avLst/>
            <a:gdLst/>
            <a:ahLst/>
            <a:cxnLst/>
            <a:rect l="l" t="t" r="r" b="b"/>
            <a:pathLst>
              <a:path w="1387098" h="1369444">
                <a:moveTo>
                  <a:pt x="0" y="0"/>
                </a:moveTo>
                <a:lnTo>
                  <a:pt x="1387098" y="0"/>
                </a:lnTo>
                <a:lnTo>
                  <a:pt x="1387098" y="1369444"/>
                </a:lnTo>
                <a:lnTo>
                  <a:pt x="0" y="1369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50745" y="2294667"/>
            <a:ext cx="5796855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 dirty="0" err="1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Solução</a:t>
            </a:r>
            <a:endParaRPr lang="en-US" sz="6500" b="1" u="none" strike="noStrike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887697" y="3341971"/>
            <a:ext cx="3887627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5" b="1" spc="23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AUTOMATIZAÇÃO</a:t>
            </a:r>
            <a:endParaRPr lang="en-US" sz="3365" b="1" spc="23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887697" y="4905519"/>
            <a:ext cx="3215283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5" b="1" spc="23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SIMPLICIDADE</a:t>
            </a:r>
            <a:endParaRPr lang="en-US" sz="3365" b="1" spc="23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887697" y="6727324"/>
            <a:ext cx="4378605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5" b="1" u="none" strike="noStrike" spc="23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ACESSIBILIDADE</a:t>
            </a:r>
            <a:endParaRPr lang="en-US" sz="3365" b="1" u="none" strike="noStrike" spc="23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50745" y="4532848"/>
            <a:ext cx="7059855" cy="5794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Plataforma digital que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automatiza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, integra 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simplifica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todas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as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rotinas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fiscais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contábeis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.</a:t>
            </a:r>
            <a:endParaRPr lang="en-US" sz="25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IA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orienta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o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usuário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em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cada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etapa</a:t>
            </a:r>
            <a:endParaRPr lang="en-US" sz="2500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Emissão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automática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de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notas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fiscais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eletrônicas</a:t>
            </a:r>
            <a:r>
              <a:rPr lang="en-US" sz="25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.</a:t>
            </a:r>
            <a:endParaRPr lang="en-US" sz="25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Cálculo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geração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guias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do Simples Nacional.</a:t>
            </a:r>
            <a:endParaRPr lang="en-US" sz="2500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Alertas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automáticos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prazos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obrigações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.</a:t>
            </a:r>
            <a:endParaRPr lang="en-US" sz="2500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Integração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completa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entre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vendas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,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bancos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,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folhas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pagamento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e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contabilidade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em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um </a:t>
            </a:r>
            <a:r>
              <a:rPr lang="en-US" sz="2500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painel</a:t>
            </a:r>
            <a:r>
              <a:rPr lang="en-US" sz="2500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digital.</a:t>
            </a:r>
            <a:endParaRPr lang="en-US" sz="2500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39750" lvl="1" indent="-269875" algn="just">
              <a:lnSpc>
                <a:spcPts val="3500"/>
              </a:lnSpc>
              <a:spcBef>
                <a:spcPct val="0"/>
              </a:spcBef>
              <a:buFont typeface="Arial" panose="020B0604020202020204"/>
              <a:buChar char="•"/>
            </a:pPr>
            <a:endParaRPr lang="en-US" sz="25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0" lvl="0" indent="0" algn="just">
              <a:lnSpc>
                <a:spcPts val="3500"/>
              </a:lnSpc>
              <a:spcBef>
                <a:spcPct val="0"/>
              </a:spcBef>
            </a:pPr>
            <a:endParaRPr lang="en-US" sz="25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16991022" y="1539221"/>
            <a:ext cx="1660777" cy="1469400"/>
            <a:chOff x="0" y="0"/>
            <a:chExt cx="437406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50745" y="9621587"/>
            <a:ext cx="1660777" cy="1469400"/>
            <a:chOff x="0" y="0"/>
            <a:chExt cx="437406" cy="3870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6416780" y="1539221"/>
            <a:ext cx="489701" cy="1469400"/>
            <a:chOff x="0" y="0"/>
            <a:chExt cx="128975" cy="3870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296063" y="9621587"/>
            <a:ext cx="489701" cy="1469400"/>
            <a:chOff x="0" y="0"/>
            <a:chExt cx="128975" cy="38700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05450"/>
            <a:ext cx="12841504" cy="214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3780"/>
              </a:lnSpc>
              <a:buFont typeface="Arial" panose="020B0604020202020204"/>
              <a:buChar char="•"/>
            </a:pPr>
            <a:r>
              <a:rPr lang="en-US" sz="27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Leonardo Novais – </a:t>
            </a:r>
            <a:r>
              <a:rPr lang="en-US" sz="27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Líder</a:t>
            </a:r>
            <a:r>
              <a:rPr lang="en-US" sz="27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, </a:t>
            </a:r>
            <a:r>
              <a:rPr lang="en-US" sz="27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especialista</a:t>
            </a:r>
            <a:r>
              <a:rPr lang="en-US" sz="27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sz="2700" u="none" strike="noStrike" dirty="0" err="1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em</a:t>
            </a:r>
            <a:r>
              <a:rPr lang="en-US" sz="27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Data Science e Analytics</a:t>
            </a:r>
            <a:endParaRPr lang="en-US" sz="2700" u="none" strike="noStrike" dirty="0">
              <a:solidFill>
                <a:srgbClr val="006DAC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582930" lvl="1" indent="-291465" algn="just">
              <a:lnSpc>
                <a:spcPts val="3780"/>
              </a:lnSpc>
              <a:buFont typeface="Arial" panose="020B0604020202020204"/>
              <a:buChar char="•"/>
            </a:pPr>
            <a:r>
              <a:rPr lang="en-US" sz="2700" u="none" strike="noStrike" dirty="0">
                <a:solidFill>
                  <a:srgbClr val="006DAC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Irving Mera – </a:t>
            </a:r>
            <a:r>
              <a:rPr lang="pt-BR" sz="2700" dirty="0">
                <a:solidFill>
                  <a:srgbClr val="006DAC"/>
                </a:solidFill>
                <a:latin typeface="Proxima Nova" panose="02000506030000020004"/>
              </a:rPr>
              <a:t>Consultor em IA, Big Data e Cloud</a:t>
            </a:r>
            <a:endParaRPr lang="en-US" sz="2700" dirty="0">
              <a:solidFill>
                <a:srgbClr val="006DAC"/>
              </a:solidFill>
              <a:latin typeface="Proxima Nova" panose="02000506030000020004"/>
              <a:sym typeface="Proxima Nova" panose="02000506030000020004"/>
            </a:endParaRPr>
          </a:p>
          <a:p>
            <a:pPr marL="582930" lvl="1" indent="-291465" algn="just">
              <a:lnSpc>
                <a:spcPts val="3780"/>
              </a:lnSpc>
              <a:buFont typeface="Arial" panose="020B0604020202020204"/>
              <a:buChar char="•"/>
            </a:pPr>
            <a:r>
              <a:rPr lang="en-US" sz="2700" dirty="0">
                <a:solidFill>
                  <a:srgbClr val="006DAC"/>
                </a:solidFill>
                <a:latin typeface="Proxima Nova" panose="02000506030000020004"/>
                <a:sym typeface="Proxima Nova" panose="02000506030000020004"/>
              </a:rPr>
              <a:t>Leonel Santos – </a:t>
            </a:r>
            <a:r>
              <a:rPr lang="pt-BR" sz="2700" dirty="0">
                <a:solidFill>
                  <a:srgbClr val="006DAC"/>
                </a:solidFill>
                <a:latin typeface="Proxima Nova" panose="02000506030000020004"/>
              </a:rPr>
              <a:t> Scrum Master e Gerente de Projetos</a:t>
            </a:r>
            <a:endParaRPr lang="pt-BR" sz="2700" dirty="0">
              <a:solidFill>
                <a:srgbClr val="006DAC"/>
              </a:solidFill>
              <a:latin typeface="Proxima Nova" panose="02000506030000020004"/>
            </a:endParaRPr>
          </a:p>
          <a:p>
            <a:br>
              <a:rPr lang="pt-BR" dirty="0"/>
            </a:br>
            <a:endParaRPr lang="en-US" sz="2700" dirty="0">
              <a:solidFill>
                <a:srgbClr val="006DAC"/>
              </a:solidFill>
              <a:latin typeface="Proxima Nova" panose="02000506030000020004"/>
              <a:sym typeface="Proxima Nova" panose="02000506030000020004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144000" y="9258300"/>
            <a:ext cx="11760614" cy="1710635"/>
          </a:xfrm>
          <a:custGeom>
            <a:avLst/>
            <a:gdLst/>
            <a:ahLst/>
            <a:cxnLst/>
            <a:rect l="l" t="t" r="r" b="b"/>
            <a:pathLst>
              <a:path w="11760614" h="1710635">
                <a:moveTo>
                  <a:pt x="0" y="0"/>
                </a:moveTo>
                <a:lnTo>
                  <a:pt x="11760614" y="0"/>
                </a:lnTo>
                <a:lnTo>
                  <a:pt x="11760614" y="1710635"/>
                </a:lnTo>
                <a:lnTo>
                  <a:pt x="0" y="171063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994165" y="387940"/>
            <a:ext cx="2265135" cy="2265135"/>
          </a:xfrm>
          <a:custGeom>
            <a:avLst/>
            <a:gdLst/>
            <a:ahLst/>
            <a:cxnLst/>
            <a:rect l="l" t="t" r="r" b="b"/>
            <a:pathLst>
              <a:path w="2265135" h="2265135">
                <a:moveTo>
                  <a:pt x="0" y="0"/>
                </a:moveTo>
                <a:lnTo>
                  <a:pt x="2265135" y="0"/>
                </a:lnTo>
                <a:lnTo>
                  <a:pt x="2265135" y="2265135"/>
                </a:lnTo>
                <a:lnTo>
                  <a:pt x="0" y="2265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09650"/>
            <a:ext cx="6750742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Equipe</a:t>
            </a:r>
            <a:endParaRPr lang="en-US" sz="6500" b="1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484704" y="7764471"/>
            <a:ext cx="10857885" cy="5181559"/>
          </a:xfrm>
          <a:custGeom>
            <a:avLst/>
            <a:gdLst/>
            <a:ahLst/>
            <a:cxnLst/>
            <a:rect l="l" t="t" r="r" b="b"/>
            <a:pathLst>
              <a:path w="10857885" h="5181559">
                <a:moveTo>
                  <a:pt x="0" y="0"/>
                </a:moveTo>
                <a:lnTo>
                  <a:pt x="10857885" y="0"/>
                </a:lnTo>
                <a:lnTo>
                  <a:pt x="10857885" y="5181559"/>
                </a:lnTo>
                <a:lnTo>
                  <a:pt x="0" y="51815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19200" y="647700"/>
            <a:ext cx="6750742" cy="10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s-MX" altLang="en-US" sz="6500" b="1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ContAI</a:t>
            </a:r>
            <a:endParaRPr lang="es-MX" altLang="en-US" sz="6500" b="1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171700"/>
            <a:ext cx="15622270" cy="7724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484704" y="7764471"/>
            <a:ext cx="10857885" cy="5181559"/>
          </a:xfrm>
          <a:custGeom>
            <a:avLst/>
            <a:gdLst/>
            <a:ahLst/>
            <a:cxnLst/>
            <a:rect l="l" t="t" r="r" b="b"/>
            <a:pathLst>
              <a:path w="10857885" h="5181559">
                <a:moveTo>
                  <a:pt x="0" y="0"/>
                </a:moveTo>
                <a:lnTo>
                  <a:pt x="10857885" y="0"/>
                </a:lnTo>
                <a:lnTo>
                  <a:pt x="10857885" y="5181559"/>
                </a:lnTo>
                <a:lnTo>
                  <a:pt x="0" y="51815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09650"/>
            <a:ext cx="6750742" cy="10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s-MX" altLang="en-US" sz="6500" b="1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ContAI</a:t>
            </a:r>
            <a:endParaRPr lang="es-MX" altLang="en-US" sz="6500" b="1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171700"/>
            <a:ext cx="15376525" cy="738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484704" y="7764471"/>
            <a:ext cx="10857885" cy="5181559"/>
          </a:xfrm>
          <a:custGeom>
            <a:avLst/>
            <a:gdLst/>
            <a:ahLst/>
            <a:cxnLst/>
            <a:rect l="l" t="t" r="r" b="b"/>
            <a:pathLst>
              <a:path w="10857885" h="5181559">
                <a:moveTo>
                  <a:pt x="0" y="0"/>
                </a:moveTo>
                <a:lnTo>
                  <a:pt x="10857885" y="0"/>
                </a:lnTo>
                <a:lnTo>
                  <a:pt x="10857885" y="5181559"/>
                </a:lnTo>
                <a:lnTo>
                  <a:pt x="0" y="51815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09650"/>
            <a:ext cx="6750742" cy="10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s-MX" altLang="en-US" sz="6500" b="1" dirty="0">
                <a:solidFill>
                  <a:srgbClr val="006DAC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ContAI</a:t>
            </a:r>
            <a:endParaRPr lang="es-MX" altLang="en-US" sz="6500" b="1" dirty="0">
              <a:solidFill>
                <a:srgbClr val="006DAC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405" y="2247900"/>
            <a:ext cx="16362680" cy="7406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C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05061" y="4632643"/>
            <a:ext cx="7338939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FFFFFF"/>
                </a:solidFill>
                <a:latin typeface="Proxima Nova Heavy" panose="02000506030000020004"/>
                <a:ea typeface="Proxima Nova Heavy" panose="02000506030000020004"/>
                <a:cs typeface="Proxima Nova Heavy" panose="02000506030000020004"/>
                <a:sym typeface="Proxima Nova Heavy" panose="02000506030000020004"/>
              </a:rPr>
              <a:t>MUITO OBRIGADO</a:t>
            </a:r>
            <a:endParaRPr lang="en-US" sz="6500" b="1" dirty="0">
              <a:solidFill>
                <a:srgbClr val="FFFFFF"/>
              </a:solidFill>
              <a:latin typeface="Proxima Nova Heavy" panose="02000506030000020004"/>
              <a:ea typeface="Proxima Nova Heavy" panose="02000506030000020004"/>
              <a:cs typeface="Proxima Nova Heavy" panose="02000506030000020004"/>
              <a:sym typeface="Proxima Nova Heavy" panose="02000506030000020004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805061" y="3415808"/>
            <a:ext cx="845359" cy="845359"/>
          </a:xfrm>
          <a:custGeom>
            <a:avLst/>
            <a:gdLst/>
            <a:ahLst/>
            <a:cxnLst/>
            <a:rect l="l" t="t" r="r" b="b"/>
            <a:pathLst>
              <a:path w="845359" h="845359">
                <a:moveTo>
                  <a:pt x="0" y="0"/>
                </a:moveTo>
                <a:lnTo>
                  <a:pt x="845359" y="0"/>
                </a:lnTo>
                <a:lnTo>
                  <a:pt x="845359" y="845360"/>
                </a:lnTo>
                <a:lnTo>
                  <a:pt x="0" y="84536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50420" y="2469915"/>
            <a:ext cx="16117421" cy="10666802"/>
          </a:xfrm>
          <a:custGeom>
            <a:avLst/>
            <a:gdLst/>
            <a:ahLst/>
            <a:cxnLst/>
            <a:rect l="l" t="t" r="r" b="b"/>
            <a:pathLst>
              <a:path w="16117421" h="10666802">
                <a:moveTo>
                  <a:pt x="0" y="0"/>
                </a:moveTo>
                <a:lnTo>
                  <a:pt x="16117421" y="0"/>
                </a:lnTo>
                <a:lnTo>
                  <a:pt x="16117421" y="10666803"/>
                </a:lnTo>
                <a:lnTo>
                  <a:pt x="0" y="106668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1670</Words>
  <Application>WPS Presentation</Application>
  <PresentationFormat>Personalizar</PresentationFormat>
  <Paragraphs>76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Proxima Nova Heavy</vt:lpstr>
      <vt:lpstr>Proxima Nova Bold</vt:lpstr>
      <vt:lpstr>Proxima Nova</vt:lpstr>
      <vt:lpstr>Arial</vt:lpstr>
      <vt:lpstr>Proxima Nova Heavy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</dc:title>
  <dc:creator>Leonardo Novais</dc:creator>
  <cp:lastModifiedBy>Marcos Irving Mera Sanchez</cp:lastModifiedBy>
  <cp:revision>7</cp:revision>
  <dcterms:created xsi:type="dcterms:W3CDTF">2006-08-16T00:00:00Z</dcterms:created>
  <dcterms:modified xsi:type="dcterms:W3CDTF">2025-11-03T02:53:16Z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791C1A24EF5845FAA61B6F0BE7E4BBE7_12</vt:lpwstr>
  </property>
  <property fmtid="{D5CDD505-2E9C-101B-9397-08002B2CF9AE}" pid="3" name="KSOProductBuildVer">
    <vt:lpwstr>1033-12.2.0.22549</vt:lpwstr>
  </property>
</Properties>
</file>